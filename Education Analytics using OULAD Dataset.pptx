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4" d="100"/>
          <a:sy n="64" d="100"/>
        </p:scale>
        <p:origin x="978"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indent="0">
              <a:lnSpc>
                <a:spcPct val="100000"/>
              </a:lnSpc>
              <a:spcBef>
                <a:spcPts val="0"/>
              </a:spcBef>
              <a:spcAft>
                <a:spcPts val="0"/>
              </a:spcAft>
            </a:pPr>
            <a:r>
              <a:rPr lang="en-US" altLang="zh-CN" dirty="0">
                <a:solidFill>
                  <a:schemeClr val="tx1"/>
                </a:solidFill>
                <a:latin typeface="Calibri" charset="0"/>
                <a:ea typeface="宋体" charset="0"/>
                <a:cs typeface="Lucida Sans"/>
              </a:rPr>
              <a:t>Education Analytics using OULAD Dataset</a:t>
            </a:r>
            <a:br>
              <a:rPr lang="en-US" altLang="zh-CN" dirty="0">
                <a:solidFill>
                  <a:schemeClr val="tx1"/>
                </a:solidFill>
                <a:latin typeface="Calibri" charset="0"/>
                <a:ea typeface="宋体" charset="0"/>
                <a:cs typeface="Lucida Sans"/>
              </a:rPr>
            </a:br>
            <a:r>
              <a:rPr lang="en-US" altLang="zh-CN" dirty="0">
                <a:solidFill>
                  <a:schemeClr val="tx1"/>
                </a:solidFill>
                <a:latin typeface="Calibri" charset="0"/>
                <a:ea typeface="宋体" charset="0"/>
                <a:cs typeface="Lucida Sans"/>
              </a:rPr>
              <a:t>and Alumni Analytics</a:t>
            </a:r>
            <a:endParaRPr lang="en-IN" dirty="0"/>
          </a:p>
        </p:txBody>
      </p:sp>
      <p:sp>
        <p:nvSpPr>
          <p:cNvPr id="3" name="Subtitle 2"/>
          <p:cNvSpPr>
            <a:spLocks noGrp="1"/>
          </p:cNvSpPr>
          <p:nvPr>
            <p:ph type="subTitle" idx="1"/>
          </p:nvPr>
        </p:nvSpPr>
        <p:spPr>
          <a:xfrm>
            <a:off x="1507067" y="4662152"/>
            <a:ext cx="7766936" cy="978794"/>
          </a:xfrm>
        </p:spPr>
        <p:txBody>
          <a:bodyPr>
            <a:normAutofit/>
          </a:bodyPr>
          <a:lstStyle/>
          <a:p>
            <a:r>
              <a:rPr lang="en-US" sz="3600" dirty="0" smtClean="0">
                <a:solidFill>
                  <a:schemeClr val="tx1"/>
                </a:solidFill>
                <a:latin typeface="Algerian" panose="04020705040A02060702" pitchFamily="82" charset="0"/>
              </a:rPr>
              <a:t>-VARSHINI PRIYA M</a:t>
            </a:r>
            <a:endParaRPr lang="en-IN" sz="3600" dirty="0">
              <a:solidFill>
                <a:schemeClr val="tx1"/>
              </a:solidFill>
              <a:latin typeface="Algerian" panose="04020705040A02060702" pitchFamily="82" charset="0"/>
            </a:endParaRPr>
          </a:p>
        </p:txBody>
      </p:sp>
    </p:spTree>
    <p:extLst>
      <p:ext uri="{BB962C8B-B14F-4D97-AF65-F5344CB8AC3E}">
        <p14:creationId xmlns:p14="http://schemas.microsoft.com/office/powerpoint/2010/main" val="679110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541020"/>
            <a:ext cx="8596668" cy="967740"/>
          </a:xfrm>
        </p:spPr>
        <p:txBody>
          <a:bodyPr/>
          <a:lstStyle/>
          <a:p>
            <a:pPr algn="ctr"/>
            <a:r>
              <a:rPr lang="en-US" dirty="0" smtClean="0">
                <a:solidFill>
                  <a:schemeClr val="tx1"/>
                </a:solidFill>
                <a:latin typeface="Algerian" panose="04020705040A02060702" pitchFamily="82" charset="0"/>
              </a:rPr>
              <a:t>CERTIFICATE</a:t>
            </a:r>
            <a:endParaRPr lang="en-IN" dirty="0">
              <a:solidFill>
                <a:schemeClr val="tx1"/>
              </a:solidFill>
            </a:endParaRPr>
          </a:p>
        </p:txBody>
      </p:sp>
      <p:sp>
        <p:nvSpPr>
          <p:cNvPr id="4" name="Rectangle 1"/>
          <p:cNvSpPr>
            <a:spLocks noGrp="1" noChangeArrowheads="1"/>
          </p:cNvSpPr>
          <p:nvPr>
            <p:ph idx="1"/>
          </p:nvPr>
        </p:nvSpPr>
        <p:spPr bwMode="auto">
          <a:xfrm>
            <a:off x="411480" y="2021081"/>
            <a:ext cx="1003554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This is to certify that the project report titled </a:t>
            </a:r>
            <a:r>
              <a:rPr kumimoji="0" lang="en-US" sz="2000" b="1"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“EDUCATION ANALYTICS” </a:t>
            </a:r>
          </a:p>
          <a:p>
            <a:pPr marL="0" marR="0" lvl="0" indent="0"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is a </a:t>
            </a:r>
            <a:r>
              <a:rPr kumimoji="0" lang="en-US" sz="2000" b="0" i="0" u="none" strike="noStrike" cap="none" normalizeH="0" baseline="0" dirty="0" err="1" smtClean="0">
                <a:ln>
                  <a:noFill/>
                </a:ln>
                <a:solidFill>
                  <a:schemeClr val="tx1"/>
                </a:solidFill>
                <a:effectLst/>
                <a:latin typeface="Calibri" panose="020F0502020204030204" pitchFamily="34" charset="0"/>
                <a:cs typeface="Calibri" panose="020F0502020204030204" pitchFamily="34" charset="0"/>
              </a:rPr>
              <a:t>bonafide</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work carried out </a:t>
            </a:r>
            <a:r>
              <a:rPr kumimoji="0" lang="en-US" sz="2000" b="1"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by Mrs. </a:t>
            </a:r>
            <a:r>
              <a:rPr kumimoji="0" lang="en-US" sz="2000" b="1" i="0" u="none" strike="noStrike" cap="none" normalizeH="0" baseline="0" dirty="0" err="1" smtClean="0">
                <a:ln>
                  <a:noFill/>
                </a:ln>
                <a:solidFill>
                  <a:schemeClr val="tx1"/>
                </a:solidFill>
                <a:effectLst/>
                <a:latin typeface="Calibri" panose="020F0502020204030204" pitchFamily="34" charset="0"/>
                <a:cs typeface="Calibri" panose="020F0502020204030204" pitchFamily="34" charset="0"/>
              </a:rPr>
              <a:t>Varshini</a:t>
            </a:r>
            <a:r>
              <a:rPr kumimoji="0" lang="en-US" sz="2000" b="1"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t>
            </a:r>
            <a:r>
              <a:rPr kumimoji="0" lang="en-US" sz="2000" b="1" i="0" u="none" strike="noStrike" cap="none" normalizeH="0" baseline="0" dirty="0" err="1" smtClean="0">
                <a:ln>
                  <a:noFill/>
                </a:ln>
                <a:solidFill>
                  <a:schemeClr val="tx1"/>
                </a:solidFill>
                <a:effectLst/>
                <a:latin typeface="Calibri" panose="020F0502020204030204" pitchFamily="34" charset="0"/>
                <a:cs typeface="Calibri" panose="020F0502020204030204" pitchFamily="34" charset="0"/>
              </a:rPr>
              <a:t>Priya</a:t>
            </a:r>
            <a:r>
              <a:rPr kumimoji="0" lang="en-US" sz="2000" b="1"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M </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in partial fulfillment of the</a:t>
            </a:r>
          </a:p>
          <a:p>
            <a:pPr marL="0" marR="0" lvl="0" indent="0"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requirements for the award of the </a:t>
            </a:r>
            <a:r>
              <a:rPr lang="en-US" sz="2000" dirty="0" smtClean="0">
                <a:solidFill>
                  <a:schemeClr val="tx1"/>
                </a:solidFill>
                <a:latin typeface="Calibri" panose="020F0502020204030204" pitchFamily="34" charset="0"/>
                <a:cs typeface="Calibri" panose="020F0502020204030204" pitchFamily="34" charset="0"/>
              </a:rPr>
              <a:t>course </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of </a:t>
            </a:r>
            <a:r>
              <a:rPr kumimoji="0" lang="en-US" sz="2000" b="1"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DATA  ANALYTICS </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of </a:t>
            </a:r>
            <a:r>
              <a:rPr kumimoji="0" lang="en-US" sz="2000" b="1"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AIMORE TECHNOLOGIES</a:t>
            </a:r>
            <a:r>
              <a:rPr kumimoji="0" lang="en-US" sz="2000" b="1" i="0" u="none" strike="noStrike" cap="none" normalizeH="0" dirty="0" smtClean="0">
                <a:ln>
                  <a:noFill/>
                </a:ln>
                <a:solidFill>
                  <a:schemeClr val="tx1"/>
                </a:solidFill>
                <a:effectLst/>
                <a:latin typeface="Calibri" panose="020F0502020204030204" pitchFamily="34" charset="0"/>
                <a:cs typeface="Calibri" panose="020F0502020204030204" pitchFamily="34" charset="0"/>
              </a:rPr>
              <a:t> </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during</a:t>
            </a:r>
            <a:r>
              <a:rPr kumimoji="0" lang="en-US" sz="2000" b="0" i="0" u="none" strike="noStrike" cap="none" normalizeH="0" dirty="0" smtClean="0">
                <a:ln>
                  <a:noFill/>
                </a:ln>
                <a:solidFill>
                  <a:schemeClr val="tx1"/>
                </a:solidFill>
                <a:effectLst/>
                <a:latin typeface="Calibri" panose="020F0502020204030204" pitchFamily="34" charset="0"/>
                <a:cs typeface="Calibri" panose="020F0502020204030204" pitchFamily="34" charset="0"/>
              </a:rPr>
              <a:t> </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the academic year 2026.</a:t>
            </a:r>
            <a:b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endPar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This project work has been carried out under my supervision and guidance. The work embodied in this report is original and has not been submitted to any other University or Institution for the award of any degree or diploma.</a:t>
            </a:r>
          </a:p>
          <a:p>
            <a:pPr marL="0" marR="0" lvl="0" indent="0"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r>
            <a:b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endPar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Guide Name: MOHIDEEN</a:t>
            </a:r>
            <a:r>
              <a:rPr kumimoji="0" lang="en-US" sz="2000" b="0" i="0" u="none" strike="noStrike" cap="none" normalizeH="0" dirty="0" smtClean="0">
                <a:ln>
                  <a:noFill/>
                </a:ln>
                <a:solidFill>
                  <a:schemeClr val="tx1"/>
                </a:solidFill>
                <a:effectLst/>
                <a:latin typeface="Calibri" panose="020F0502020204030204" pitchFamily="34" charset="0"/>
                <a:cs typeface="Calibri" panose="020F0502020204030204" pitchFamily="34" charset="0"/>
              </a:rPr>
              <a:t> JAILANI</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r>
            <a:b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endPar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8210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DECLARATION</a:t>
            </a:r>
            <a:endParaRPr lang="en-IN" dirty="0">
              <a:solidFill>
                <a:schemeClr val="tx1"/>
              </a:solidFill>
              <a:latin typeface="Algerian" panose="04020705040A02060702" pitchFamily="82" charset="0"/>
            </a:endParaRPr>
          </a:p>
        </p:txBody>
      </p:sp>
      <p:sp>
        <p:nvSpPr>
          <p:cNvPr id="4" name="Rectangle 1"/>
          <p:cNvSpPr>
            <a:spLocks noGrp="1" noChangeArrowheads="1"/>
          </p:cNvSpPr>
          <p:nvPr>
            <p:ph idx="1"/>
          </p:nvPr>
        </p:nvSpPr>
        <p:spPr bwMode="auto">
          <a:xfrm>
            <a:off x="677863" y="1622407"/>
            <a:ext cx="9412961"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I hereby declare that the project report titled “EDUCATION</a:t>
            </a:r>
            <a:r>
              <a:rPr kumimoji="0" lang="en-US" sz="2000" b="0" i="0" u="none" strike="noStrike" cap="none" normalizeH="0" dirty="0" smtClean="0">
                <a:ln>
                  <a:noFill/>
                </a:ln>
                <a:solidFill>
                  <a:schemeClr val="tx1"/>
                </a:solidFill>
                <a:effectLst/>
                <a:latin typeface="Calibri" panose="020F0502020204030204" pitchFamily="34" charset="0"/>
                <a:cs typeface="Calibri" panose="020F0502020204030204" pitchFamily="34" charset="0"/>
              </a:rPr>
              <a:t> ANALYTICS</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submitted by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me to AIMORE</a:t>
            </a:r>
            <a:r>
              <a:rPr kumimoji="0" lang="en-US" sz="2000" b="0" i="0" u="none" strike="noStrike" cap="none" normalizeH="0" dirty="0" smtClean="0">
                <a:ln>
                  <a:noFill/>
                </a:ln>
                <a:solidFill>
                  <a:schemeClr val="tx1"/>
                </a:solidFill>
                <a:effectLst/>
                <a:latin typeface="Calibri" panose="020F0502020204030204" pitchFamily="34" charset="0"/>
                <a:cs typeface="Calibri" panose="020F0502020204030204" pitchFamily="34" charset="0"/>
              </a:rPr>
              <a:t> TECHNOLOGIES</a:t>
            </a:r>
            <a:r>
              <a:rPr lang="en-US" sz="2000" dirty="0">
                <a:solidFill>
                  <a:schemeClr val="tx1"/>
                </a:solidFill>
                <a:latin typeface="Calibri" panose="020F0502020204030204" pitchFamily="34" charset="0"/>
                <a:cs typeface="Calibri" panose="020F0502020204030204" pitchFamily="34" charset="0"/>
              </a:rPr>
              <a:t> </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is a record of original work carried out by me under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the guidance of</a:t>
            </a:r>
            <a:r>
              <a:rPr kumimoji="0" lang="en-US" sz="2000" b="0" i="0" u="none" strike="noStrike" cap="none" normalizeH="0" dirty="0" smtClean="0">
                <a:ln>
                  <a:noFill/>
                </a:ln>
                <a:solidFill>
                  <a:schemeClr val="tx1"/>
                </a:solidFill>
                <a:effectLst/>
                <a:latin typeface="Calibri" panose="020F0502020204030204" pitchFamily="34" charset="0"/>
                <a:cs typeface="Calibri" panose="020F0502020204030204" pitchFamily="34" charset="0"/>
              </a:rPr>
              <a:t>  </a:t>
            </a: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MOHIDEEN</a:t>
            </a:r>
            <a:r>
              <a:rPr kumimoji="0" lang="en-US" sz="2000" b="0" i="0" u="none" strike="noStrike" cap="none" normalizeH="0" dirty="0" smtClean="0">
                <a:ln>
                  <a:noFill/>
                </a:ln>
                <a:solidFill>
                  <a:schemeClr val="tx1"/>
                </a:solidFill>
                <a:effectLst/>
                <a:latin typeface="Calibri" panose="020F0502020204030204" pitchFamily="34" charset="0"/>
                <a:cs typeface="Calibri" panose="020F0502020204030204" pitchFamily="34" charset="0"/>
              </a:rPr>
              <a:t> JAILANI.</a:t>
            </a:r>
            <a:endPar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chemeClr val="tx1"/>
              </a:solidFill>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I further declare that this project report has not been submitted previously,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either in full or in part, to any other University or Institution for the award of any degree,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diploma, or fellowship.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All sources of information used in this project report have been duly acknowledged.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r>
            <a:b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endPar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Place: Erode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Date:</a:t>
            </a:r>
            <a:r>
              <a:rPr kumimoji="0" lang="en-US" sz="2000" b="0" i="0" u="none" strike="noStrike" cap="none" normalizeH="0" dirty="0" smtClean="0">
                <a:ln>
                  <a:noFill/>
                </a:ln>
                <a:solidFill>
                  <a:schemeClr val="tx1"/>
                </a:solidFill>
                <a:effectLst/>
                <a:latin typeface="Calibri" panose="020F0502020204030204" pitchFamily="34" charset="0"/>
                <a:cs typeface="Calibri" panose="020F0502020204030204" pitchFamily="34" charset="0"/>
              </a:rPr>
              <a:t> 19-01-2026</a:t>
            </a:r>
            <a:r>
              <a:rPr kumimoji="0" lang="en-US" sz="1800" b="0" i="0" u="none" strike="noStrike" cap="none" normalizeH="0" baseline="0" dirty="0" smtClean="0">
                <a:ln>
                  <a:noFill/>
                </a:ln>
                <a:solidFill>
                  <a:schemeClr val="tx1"/>
                </a:solidFill>
                <a:effectLst/>
                <a:latin typeface="Arial" panose="020B0604020202020204" pitchFamily="34" charset="0"/>
              </a:rPr>
              <a:t/>
            </a:r>
            <a:br>
              <a:rPr kumimoji="0" lang="en-US" sz="1800" b="0" i="0" u="none" strike="noStrike" cap="none" normalizeH="0" baseline="0" dirty="0" smtClean="0">
                <a:ln>
                  <a:noFill/>
                </a:ln>
                <a:solidFill>
                  <a:schemeClr val="tx1"/>
                </a:solidFill>
                <a:effectLst/>
                <a:latin typeface="Arial" panose="020B0604020202020204" pitchFamily="34" charset="0"/>
              </a:rPr>
            </a:b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890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INTRODUCTION</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lvl="1">
              <a:spcBef>
                <a:spcPct val="20000"/>
              </a:spcBef>
              <a:buFont typeface="Arial" charset="0"/>
              <a:buChar char="–"/>
            </a:pPr>
            <a:r>
              <a:rPr lang="en-US" altLang="zh-CN" sz="2800" dirty="0">
                <a:solidFill>
                  <a:schemeClr val="tx1"/>
                </a:solidFill>
                <a:latin typeface="Calibri" charset="0"/>
                <a:ea typeface="宋体" charset="0"/>
                <a:cs typeface="Lucida Sans"/>
              </a:rPr>
              <a:t>Educational institutions generate large volumes of academic data</a:t>
            </a:r>
          </a:p>
          <a:p>
            <a:pPr lvl="1">
              <a:spcBef>
                <a:spcPct val="20000"/>
              </a:spcBef>
              <a:buFont typeface="Arial" charset="0"/>
              <a:buChar char="–"/>
            </a:pPr>
            <a:r>
              <a:rPr lang="en-US" altLang="zh-CN" sz="2800" dirty="0">
                <a:solidFill>
                  <a:schemeClr val="tx1"/>
                </a:solidFill>
                <a:latin typeface="Calibri" charset="0"/>
                <a:ea typeface="宋体" charset="0"/>
                <a:cs typeface="Lucida Sans"/>
              </a:rPr>
              <a:t>Traditional reporting fails to extract meaningful insights</a:t>
            </a:r>
          </a:p>
          <a:p>
            <a:pPr lvl="1">
              <a:spcBef>
                <a:spcPct val="20000"/>
              </a:spcBef>
              <a:buFont typeface="Arial" charset="0"/>
              <a:buChar char="–"/>
            </a:pPr>
            <a:r>
              <a:rPr lang="en-US" altLang="zh-CN" sz="2800" dirty="0">
                <a:solidFill>
                  <a:schemeClr val="tx1"/>
                </a:solidFill>
                <a:latin typeface="Calibri" charset="0"/>
                <a:ea typeface="宋体" charset="0"/>
                <a:cs typeface="Lucida Sans"/>
              </a:rPr>
              <a:t>Education analytics supports informed decision-making</a:t>
            </a:r>
            <a:endParaRPr lang="zh-CN" altLang="en-US" sz="2800" dirty="0">
              <a:solidFill>
                <a:schemeClr val="tx1"/>
              </a:solidFill>
              <a:latin typeface="Calibri" charset="0"/>
              <a:ea typeface="宋体" charset="0"/>
              <a:cs typeface="Lucida Sans"/>
            </a:endParaRPr>
          </a:p>
        </p:txBody>
      </p:sp>
    </p:spTree>
    <p:extLst>
      <p:ext uri="{BB962C8B-B14F-4D97-AF65-F5344CB8AC3E}">
        <p14:creationId xmlns:p14="http://schemas.microsoft.com/office/powerpoint/2010/main" val="2892151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PROBLEM STATEMENT</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lvl="1">
              <a:spcBef>
                <a:spcPct val="20000"/>
              </a:spcBef>
              <a:buFont typeface="Arial" charset="0"/>
              <a:buChar char="–"/>
            </a:pPr>
            <a:r>
              <a:rPr lang="en-US" altLang="zh-CN" sz="2800" dirty="0">
                <a:solidFill>
                  <a:schemeClr val="tx1"/>
                </a:solidFill>
                <a:latin typeface="Calibri" charset="0"/>
                <a:ea typeface="宋体" charset="0"/>
                <a:cs typeface="Lucida Sans"/>
              </a:rPr>
              <a:t>Difficulty in identifying at-risk students</a:t>
            </a:r>
          </a:p>
          <a:p>
            <a:pPr lvl="1">
              <a:spcBef>
                <a:spcPct val="20000"/>
              </a:spcBef>
              <a:buFont typeface="Arial" charset="0"/>
              <a:buChar char="–"/>
            </a:pPr>
            <a:r>
              <a:rPr lang="en-US" altLang="zh-CN" sz="2800" dirty="0">
                <a:solidFill>
                  <a:schemeClr val="tx1"/>
                </a:solidFill>
                <a:latin typeface="Calibri" charset="0"/>
                <a:ea typeface="宋体" charset="0"/>
                <a:cs typeface="Lucida Sans"/>
              </a:rPr>
              <a:t>Limited insight into admission and enrollment trends</a:t>
            </a:r>
          </a:p>
          <a:p>
            <a:pPr lvl="1">
              <a:spcBef>
                <a:spcPct val="20000"/>
              </a:spcBef>
              <a:buFont typeface="Arial" charset="0"/>
              <a:buChar char="–"/>
            </a:pPr>
            <a:r>
              <a:rPr lang="en-US" altLang="zh-CN" sz="2800" dirty="0">
                <a:solidFill>
                  <a:schemeClr val="tx1"/>
                </a:solidFill>
                <a:latin typeface="Calibri" charset="0"/>
                <a:ea typeface="宋体" charset="0"/>
                <a:cs typeface="Lucida Sans"/>
              </a:rPr>
              <a:t>Alumni placement and contribution data underutilized</a:t>
            </a:r>
            <a:endParaRPr lang="zh-CN" altLang="en-US" sz="2800" dirty="0">
              <a:solidFill>
                <a:schemeClr val="tx1"/>
              </a:solidFill>
              <a:latin typeface="Calibri" charset="0"/>
              <a:ea typeface="宋体" charset="0"/>
              <a:cs typeface="Lucida Sans"/>
            </a:endParaRPr>
          </a:p>
        </p:txBody>
      </p:sp>
    </p:spTree>
    <p:extLst>
      <p:ext uri="{BB962C8B-B14F-4D97-AF65-F5344CB8AC3E}">
        <p14:creationId xmlns:p14="http://schemas.microsoft.com/office/powerpoint/2010/main" val="58720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OBJECTIVES</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lvl="1">
              <a:spcBef>
                <a:spcPct val="20000"/>
              </a:spcBef>
              <a:buFont typeface="Arial" charset="0"/>
              <a:buChar char="–"/>
            </a:pPr>
            <a:r>
              <a:rPr lang="en-US" altLang="zh-CN" sz="2800" dirty="0">
                <a:solidFill>
                  <a:schemeClr val="tx1"/>
                </a:solidFill>
                <a:latin typeface="Calibri" charset="0"/>
                <a:ea typeface="宋体" charset="0"/>
                <a:cs typeface="Lucida Sans"/>
              </a:rPr>
              <a:t>Analyze student academic performance</a:t>
            </a:r>
          </a:p>
          <a:p>
            <a:pPr lvl="1">
              <a:spcBef>
                <a:spcPct val="20000"/>
              </a:spcBef>
              <a:buFont typeface="Arial" charset="0"/>
              <a:buChar char="–"/>
            </a:pPr>
            <a:r>
              <a:rPr lang="en-US" altLang="zh-CN" sz="2800" dirty="0">
                <a:solidFill>
                  <a:schemeClr val="tx1"/>
                </a:solidFill>
                <a:latin typeface="Calibri" charset="0"/>
                <a:ea typeface="宋体" charset="0"/>
                <a:cs typeface="Lucida Sans"/>
              </a:rPr>
              <a:t>Identify at-risk students</a:t>
            </a:r>
          </a:p>
          <a:p>
            <a:pPr lvl="1">
              <a:spcBef>
                <a:spcPct val="20000"/>
              </a:spcBef>
              <a:buFont typeface="Arial" charset="0"/>
              <a:buChar char="–"/>
            </a:pPr>
            <a:r>
              <a:rPr lang="en-US" altLang="zh-CN" sz="2800" dirty="0">
                <a:solidFill>
                  <a:schemeClr val="tx1"/>
                </a:solidFill>
                <a:latin typeface="Calibri" charset="0"/>
                <a:ea typeface="宋体" charset="0"/>
                <a:cs typeface="Lucida Sans"/>
              </a:rPr>
              <a:t>Study admission and enrollment </a:t>
            </a:r>
            <a:r>
              <a:rPr lang="en-US" altLang="zh-CN" sz="2800" dirty="0" smtClean="0">
                <a:solidFill>
                  <a:schemeClr val="tx1"/>
                </a:solidFill>
                <a:latin typeface="Calibri" charset="0"/>
                <a:ea typeface="宋体" charset="0"/>
                <a:cs typeface="Lucida Sans"/>
              </a:rPr>
              <a:t>trends</a:t>
            </a:r>
          </a:p>
          <a:p>
            <a:pPr lvl="1">
              <a:spcBef>
                <a:spcPct val="20000"/>
              </a:spcBef>
              <a:buFont typeface="Arial" charset="0"/>
              <a:buChar char="–"/>
            </a:pPr>
            <a:r>
              <a:rPr lang="en-US" altLang="zh-CN" sz="2800" dirty="0" smtClean="0">
                <a:solidFill>
                  <a:schemeClr val="tx1"/>
                </a:solidFill>
                <a:latin typeface="Calibri" charset="0"/>
                <a:ea typeface="宋体" charset="0"/>
                <a:cs typeface="Lucida Sans"/>
              </a:rPr>
              <a:t>Analyze workload and performance of faculty</a:t>
            </a:r>
            <a:endParaRPr lang="en-US" altLang="zh-CN" sz="2800" dirty="0">
              <a:solidFill>
                <a:schemeClr val="tx1"/>
              </a:solidFill>
              <a:latin typeface="Calibri" charset="0"/>
              <a:ea typeface="宋体" charset="0"/>
              <a:cs typeface="Lucida Sans"/>
            </a:endParaRPr>
          </a:p>
          <a:p>
            <a:pPr lvl="1">
              <a:spcBef>
                <a:spcPct val="20000"/>
              </a:spcBef>
              <a:buFont typeface="Arial" charset="0"/>
              <a:buChar char="–"/>
            </a:pPr>
            <a:r>
              <a:rPr lang="en-US" altLang="zh-CN" sz="2800" dirty="0">
                <a:solidFill>
                  <a:schemeClr val="tx1"/>
                </a:solidFill>
                <a:latin typeface="Calibri" charset="0"/>
                <a:ea typeface="宋体" charset="0"/>
                <a:cs typeface="Lucida Sans"/>
              </a:rPr>
              <a:t>Analyze alumni placement and contribution</a:t>
            </a:r>
            <a:endParaRPr lang="zh-CN" altLang="en-US" sz="2800" dirty="0">
              <a:solidFill>
                <a:schemeClr val="tx1"/>
              </a:solidFill>
              <a:latin typeface="Calibri" charset="0"/>
              <a:ea typeface="宋体" charset="0"/>
              <a:cs typeface="Lucida Sans"/>
            </a:endParaRPr>
          </a:p>
        </p:txBody>
      </p:sp>
    </p:spTree>
    <p:extLst>
      <p:ext uri="{BB962C8B-B14F-4D97-AF65-F5344CB8AC3E}">
        <p14:creationId xmlns:p14="http://schemas.microsoft.com/office/powerpoint/2010/main" val="3856641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DATASET DESCRIPTION</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lvl="1">
              <a:spcBef>
                <a:spcPct val="20000"/>
              </a:spcBef>
              <a:buFont typeface="Arial" charset="0"/>
              <a:buChar char="–"/>
            </a:pPr>
            <a:r>
              <a:rPr lang="en-US" altLang="zh-CN" sz="2800" dirty="0">
                <a:solidFill>
                  <a:schemeClr val="tx1"/>
                </a:solidFill>
                <a:latin typeface="Calibri" charset="0"/>
                <a:ea typeface="宋体" charset="0"/>
                <a:cs typeface="Lucida Sans"/>
              </a:rPr>
              <a:t>OULAD Student </a:t>
            </a:r>
            <a:r>
              <a:rPr lang="en-US" altLang="zh-CN" sz="2800" dirty="0" smtClean="0">
                <a:solidFill>
                  <a:schemeClr val="tx1"/>
                </a:solidFill>
                <a:latin typeface="Calibri" charset="0"/>
                <a:ea typeface="宋体" charset="0"/>
                <a:cs typeface="Lucida Sans"/>
              </a:rPr>
              <a:t>Dataset </a:t>
            </a:r>
            <a:endParaRPr lang="en-US" altLang="zh-CN" sz="2800" dirty="0">
              <a:solidFill>
                <a:schemeClr val="tx1"/>
              </a:solidFill>
              <a:latin typeface="Calibri" charset="0"/>
              <a:ea typeface="宋体" charset="0"/>
              <a:cs typeface="Lucida Sans"/>
            </a:endParaRPr>
          </a:p>
          <a:p>
            <a:pPr lvl="1">
              <a:spcBef>
                <a:spcPct val="20000"/>
              </a:spcBef>
              <a:buFont typeface="Arial" charset="0"/>
              <a:buChar char="–"/>
            </a:pPr>
            <a:r>
              <a:rPr lang="en-US" altLang="zh-CN" sz="2800" dirty="0">
                <a:solidFill>
                  <a:schemeClr val="tx1"/>
                </a:solidFill>
                <a:latin typeface="Calibri" charset="0"/>
                <a:ea typeface="宋体" charset="0"/>
                <a:cs typeface="Lucida Sans"/>
              </a:rPr>
              <a:t>Admissions Dataset </a:t>
            </a:r>
            <a:endParaRPr lang="en-US" altLang="zh-CN" sz="2800" dirty="0" smtClean="0">
              <a:solidFill>
                <a:schemeClr val="tx1"/>
              </a:solidFill>
              <a:latin typeface="Calibri" charset="0"/>
              <a:ea typeface="宋体" charset="0"/>
              <a:cs typeface="Lucida Sans"/>
            </a:endParaRPr>
          </a:p>
          <a:p>
            <a:pPr lvl="1">
              <a:spcBef>
                <a:spcPct val="20000"/>
              </a:spcBef>
              <a:buFont typeface="Arial" charset="0"/>
              <a:buChar char="–"/>
            </a:pPr>
            <a:r>
              <a:rPr lang="en-US" altLang="zh-CN" sz="2800" dirty="0" smtClean="0">
                <a:solidFill>
                  <a:schemeClr val="tx1"/>
                </a:solidFill>
                <a:latin typeface="Calibri" charset="0"/>
                <a:ea typeface="宋体" charset="0"/>
                <a:cs typeface="Lucida Sans"/>
              </a:rPr>
              <a:t>Alumni </a:t>
            </a:r>
            <a:r>
              <a:rPr lang="en-US" altLang="zh-CN" sz="2800" dirty="0">
                <a:solidFill>
                  <a:schemeClr val="tx1"/>
                </a:solidFill>
                <a:latin typeface="Calibri" charset="0"/>
                <a:ea typeface="宋体" charset="0"/>
                <a:cs typeface="Lucida Sans"/>
              </a:rPr>
              <a:t>Information </a:t>
            </a:r>
            <a:r>
              <a:rPr lang="en-US" altLang="zh-CN" sz="2800" dirty="0" smtClean="0">
                <a:solidFill>
                  <a:schemeClr val="tx1"/>
                </a:solidFill>
                <a:latin typeface="Calibri" charset="0"/>
                <a:ea typeface="宋体" charset="0"/>
                <a:cs typeface="Lucida Sans"/>
              </a:rPr>
              <a:t>Dataset</a:t>
            </a:r>
          </a:p>
          <a:p>
            <a:pPr lvl="1">
              <a:spcBef>
                <a:spcPct val="20000"/>
              </a:spcBef>
              <a:buFont typeface="Arial" charset="0"/>
              <a:buChar char="–"/>
            </a:pPr>
            <a:r>
              <a:rPr lang="en-US" altLang="zh-CN" sz="2800" dirty="0" smtClean="0">
                <a:solidFill>
                  <a:schemeClr val="tx1"/>
                </a:solidFill>
                <a:latin typeface="Calibri" charset="0"/>
                <a:ea typeface="宋体" charset="0"/>
                <a:cs typeface="Lucida Sans"/>
              </a:rPr>
              <a:t>Faculty  workload Dataset </a:t>
            </a:r>
          </a:p>
          <a:p>
            <a:pPr lvl="1">
              <a:spcBef>
                <a:spcPct val="20000"/>
              </a:spcBef>
              <a:buFont typeface="Arial" charset="0"/>
              <a:buChar char="–"/>
            </a:pPr>
            <a:r>
              <a:rPr lang="en-US" altLang="zh-CN" sz="2800" dirty="0" smtClean="0">
                <a:solidFill>
                  <a:schemeClr val="tx1"/>
                </a:solidFill>
                <a:latin typeface="Calibri" charset="0"/>
                <a:ea typeface="宋体" charset="0"/>
                <a:cs typeface="Lucida Sans"/>
              </a:rPr>
              <a:t>Placement </a:t>
            </a:r>
            <a:r>
              <a:rPr lang="en-US" altLang="zh-CN" sz="2800" dirty="0">
                <a:solidFill>
                  <a:schemeClr val="tx1"/>
                </a:solidFill>
                <a:latin typeface="Calibri" charset="0"/>
                <a:ea typeface="宋体" charset="0"/>
                <a:cs typeface="Lucida Sans"/>
              </a:rPr>
              <a:t>and Alumni Contribution Datasets</a:t>
            </a:r>
            <a:endParaRPr lang="zh-CN" altLang="en-US" sz="2800" dirty="0">
              <a:solidFill>
                <a:schemeClr val="tx1"/>
              </a:solidFill>
              <a:latin typeface="Calibri" charset="0"/>
              <a:ea typeface="宋体" charset="0"/>
              <a:cs typeface="Lucida Sans"/>
            </a:endParaRPr>
          </a:p>
        </p:txBody>
      </p:sp>
    </p:spTree>
    <p:extLst>
      <p:ext uri="{BB962C8B-B14F-4D97-AF65-F5344CB8AC3E}">
        <p14:creationId xmlns:p14="http://schemas.microsoft.com/office/powerpoint/2010/main" val="129649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TOOLS USED</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lvl="1">
              <a:spcBef>
                <a:spcPct val="20000"/>
              </a:spcBef>
              <a:buFont typeface="Arial" charset="0"/>
              <a:buChar char="–"/>
            </a:pPr>
            <a:r>
              <a:rPr lang="en-US" altLang="zh-CN" sz="2800" dirty="0">
                <a:solidFill>
                  <a:schemeClr val="tx1"/>
                </a:solidFill>
                <a:latin typeface="Calibri" charset="0"/>
                <a:ea typeface="宋体" charset="0"/>
                <a:cs typeface="Lucida Sans"/>
              </a:rPr>
              <a:t>Python (Pandas, </a:t>
            </a:r>
            <a:r>
              <a:rPr lang="en-US" altLang="zh-CN" sz="2800" dirty="0" err="1">
                <a:solidFill>
                  <a:schemeClr val="tx1"/>
                </a:solidFill>
                <a:latin typeface="Calibri" charset="0"/>
                <a:ea typeface="宋体" charset="0"/>
                <a:cs typeface="Lucida Sans"/>
              </a:rPr>
              <a:t>NumPy</a:t>
            </a:r>
            <a:r>
              <a:rPr lang="en-US" altLang="zh-CN" sz="2800" dirty="0">
                <a:solidFill>
                  <a:schemeClr val="tx1"/>
                </a:solidFill>
                <a:latin typeface="Calibri" charset="0"/>
                <a:ea typeface="宋体" charset="0"/>
                <a:cs typeface="Lucida Sans"/>
              </a:rPr>
              <a:t>)</a:t>
            </a:r>
          </a:p>
          <a:p>
            <a:pPr lvl="1">
              <a:spcBef>
                <a:spcPct val="20000"/>
              </a:spcBef>
              <a:buFont typeface="Arial" charset="0"/>
              <a:buChar char="–"/>
            </a:pPr>
            <a:r>
              <a:rPr lang="en-US" altLang="zh-CN" sz="2800" dirty="0">
                <a:solidFill>
                  <a:schemeClr val="tx1"/>
                </a:solidFill>
                <a:latin typeface="Calibri" charset="0"/>
                <a:ea typeface="宋体" charset="0"/>
                <a:cs typeface="Lucida Sans"/>
              </a:rPr>
              <a:t>Power BI (DAX, Dashboards)</a:t>
            </a:r>
          </a:p>
          <a:p>
            <a:pPr lvl="1">
              <a:spcBef>
                <a:spcPct val="20000"/>
              </a:spcBef>
              <a:buFont typeface="Arial" charset="0"/>
              <a:buChar char="–"/>
            </a:pPr>
            <a:r>
              <a:rPr lang="en-US" altLang="zh-CN" sz="2800" dirty="0">
                <a:solidFill>
                  <a:schemeClr val="tx1"/>
                </a:solidFill>
                <a:latin typeface="Calibri" charset="0"/>
                <a:ea typeface="宋体" charset="0"/>
                <a:cs typeface="Lucida Sans"/>
              </a:rPr>
              <a:t>CSV-based structured datasets</a:t>
            </a:r>
            <a:endParaRPr lang="zh-CN" altLang="en-US" sz="2800" dirty="0">
              <a:solidFill>
                <a:schemeClr val="tx1"/>
              </a:solidFill>
              <a:latin typeface="Calibri" charset="0"/>
              <a:ea typeface="宋体" charset="0"/>
              <a:cs typeface="Lucida Sans"/>
            </a:endParaRPr>
          </a:p>
          <a:p>
            <a:endParaRPr lang="en-IN" dirty="0"/>
          </a:p>
        </p:txBody>
      </p:sp>
    </p:spTree>
    <p:extLst>
      <p:ext uri="{BB962C8B-B14F-4D97-AF65-F5344CB8AC3E}">
        <p14:creationId xmlns:p14="http://schemas.microsoft.com/office/powerpoint/2010/main" val="571842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DATA MODEL</a:t>
            </a:r>
            <a:endParaRPr lang="en-IN" dirty="0">
              <a:solidFill>
                <a:schemeClr val="tx1"/>
              </a:solidFill>
              <a:latin typeface="Algerian" panose="04020705040A02060702" pitchFamily="82" charset="0"/>
            </a:endParaRPr>
          </a:p>
        </p:txBody>
      </p:sp>
      <p:pic>
        <p:nvPicPr>
          <p:cNvPr id="4" name="Content Placeholder 3"/>
          <p:cNvPicPr>
            <a:picLocks noGrp="1" noChangeAspect="1"/>
          </p:cNvPicPr>
          <p:nvPr>
            <p:ph idx="1"/>
          </p:nvPr>
        </p:nvPicPr>
        <p:blipFill>
          <a:blip r:embed="rId2"/>
          <a:stretch>
            <a:fillRect/>
          </a:stretch>
        </p:blipFill>
        <p:spPr>
          <a:xfrm>
            <a:off x="1115920" y="1289154"/>
            <a:ext cx="7923149" cy="5568846"/>
          </a:xfrm>
          <a:prstGeom prst="rect">
            <a:avLst/>
          </a:prstGeom>
        </p:spPr>
      </p:pic>
    </p:spTree>
    <p:extLst>
      <p:ext uri="{BB962C8B-B14F-4D97-AF65-F5344CB8AC3E}">
        <p14:creationId xmlns:p14="http://schemas.microsoft.com/office/powerpoint/2010/main" val="984226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STUDENT PERFORMANCE OVERVIEW</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marL="0" lvl="0" indent="0" defTabSz="914400" eaLnBrk="0" fontAlgn="b" hangingPunct="0">
              <a:spcBef>
                <a:spcPct val="0"/>
              </a:spcBef>
              <a:spcAft>
                <a:spcPct val="0"/>
              </a:spcAft>
              <a:buClrTx/>
              <a:buSzTx/>
              <a:buNone/>
            </a:pPr>
            <a:r>
              <a:rPr lang="en-US" b="1" dirty="0" smtClean="0">
                <a:solidFill>
                  <a:srgbClr val="222222"/>
                </a:solidFill>
                <a:latin typeface="Arial" panose="020B0604020202020204" pitchFamily="34" charset="0"/>
                <a:ea typeface="Times New Roman" panose="02020603050405020304" pitchFamily="18" charset="0"/>
                <a:cs typeface="Arial" panose="020B0604020202020204" pitchFamily="34" charset="0"/>
              </a:rPr>
              <a:t>PURPOSE :</a:t>
            </a:r>
          </a:p>
          <a:p>
            <a:pPr marL="0" lvl="0" indent="0" defTabSz="914400" eaLnBrk="0" fontAlgn="b" hangingPunct="0">
              <a:spcBef>
                <a:spcPct val="0"/>
              </a:spcBef>
              <a:spcAft>
                <a:spcPct val="0"/>
              </a:spcAft>
              <a:buClrTx/>
              <a:buSzTx/>
              <a:buNone/>
            </a:pPr>
            <a:endParaRPr lang="en-US" dirty="0">
              <a:solidFill>
                <a:srgbClr val="222222"/>
              </a:solidFill>
              <a:latin typeface="Arial" panose="020B0604020202020204" pitchFamily="34" charset="0"/>
              <a:ea typeface="Times New Roman" panose="02020603050405020304" pitchFamily="18" charset="0"/>
              <a:cs typeface="Arial" panose="020B0604020202020204" pitchFamily="34" charset="0"/>
            </a:endParaRPr>
          </a:p>
          <a:p>
            <a:pPr marL="0" lvl="0" indent="0" defTabSz="914400" eaLnBrk="0" fontAlgn="b" hangingPunct="0">
              <a:spcBef>
                <a:spcPct val="0"/>
              </a:spcBef>
              <a:spcAft>
                <a:spcPct val="0"/>
              </a:spcAft>
              <a:buClrTx/>
              <a:buSzTx/>
              <a:buNone/>
            </a:pPr>
            <a:r>
              <a:rPr lang="en-US" dirty="0" smtClean="0">
                <a:solidFill>
                  <a:srgbClr val="222222"/>
                </a:solidFill>
                <a:latin typeface="Arial" panose="020B0604020202020204" pitchFamily="34" charset="0"/>
                <a:ea typeface="Times New Roman" panose="02020603050405020304" pitchFamily="18" charset="0"/>
                <a:cs typeface="Arial" panose="020B0604020202020204" pitchFamily="34" charset="0"/>
              </a:rPr>
              <a:t>Understand </a:t>
            </a:r>
            <a:r>
              <a:rPr lang="en-US" dirty="0">
                <a:solidFill>
                  <a:srgbClr val="222222"/>
                </a:solidFill>
                <a:latin typeface="Arial" panose="020B0604020202020204" pitchFamily="34" charset="0"/>
                <a:ea typeface="Times New Roman" panose="02020603050405020304" pitchFamily="18" charset="0"/>
                <a:cs typeface="Arial" panose="020B0604020202020204" pitchFamily="34" charset="0"/>
              </a:rPr>
              <a:t>learning outcomes, identify weak students, and track academic trends</a:t>
            </a:r>
            <a:r>
              <a:rPr lang="en-US" dirty="0" smtClean="0">
                <a:solidFill>
                  <a:srgbClr val="222222"/>
                </a:solidFill>
                <a:latin typeface="Arial" panose="020B0604020202020204" pitchFamily="34" charset="0"/>
                <a:ea typeface="Times New Roman" panose="02020603050405020304" pitchFamily="18" charset="0"/>
                <a:cs typeface="Arial" panose="020B0604020202020204" pitchFamily="34" charset="0"/>
              </a:rPr>
              <a:t>.</a:t>
            </a:r>
          </a:p>
          <a:p>
            <a:pPr marL="0" lvl="0" indent="0" defTabSz="914400" eaLnBrk="0" fontAlgn="b" hangingPunct="0">
              <a:spcBef>
                <a:spcPct val="0"/>
              </a:spcBef>
              <a:spcAft>
                <a:spcPct val="0"/>
              </a:spcAft>
              <a:buClrTx/>
              <a:buSzTx/>
              <a:buNone/>
            </a:pPr>
            <a:endParaRPr lang="en-US" sz="1600" dirty="0">
              <a:solidFill>
                <a:srgbClr val="222222"/>
              </a:solidFill>
              <a:latin typeface="Arial" panose="020B0604020202020204" pitchFamily="34" charset="0"/>
              <a:cs typeface="Arial" panose="020B0604020202020204" pitchFamily="34" charset="0"/>
            </a:endParaRPr>
          </a:p>
          <a:p>
            <a:r>
              <a:rPr lang="en-IN" sz="1600" dirty="0"/>
              <a:t> </a:t>
            </a:r>
            <a:r>
              <a:rPr lang="en-IN" sz="1600" dirty="0" smtClean="0"/>
              <a:t> </a:t>
            </a:r>
            <a:r>
              <a:rPr lang="en-IN" sz="1600" dirty="0"/>
              <a:t>This dashboard provides a comprehensive overview of student academic performance using the OULAD dataset. Key indicators such as pass rate, fail rate, and withdrawal rate help identify overall institutional effectiveness. Visualizations like score distributions and module-wise performance highlight difficult courses and student learning gaps.</a:t>
            </a:r>
          </a:p>
          <a:p>
            <a:pPr marL="0" indent="0">
              <a:buNone/>
            </a:pPr>
            <a:r>
              <a:rPr lang="en-IN" sz="1600" dirty="0"/>
              <a:t> </a:t>
            </a:r>
          </a:p>
          <a:p>
            <a:pPr marL="0" lvl="0" indent="0" defTabSz="914400" eaLnBrk="0" fontAlgn="b" hangingPunct="0">
              <a:spcBef>
                <a:spcPct val="0"/>
              </a:spcBef>
              <a:spcAft>
                <a:spcPct val="0"/>
              </a:spcAft>
              <a:buClrTx/>
              <a:buSzTx/>
              <a:buNone/>
            </a:pPr>
            <a:endParaRPr lang="en-US" sz="1600" dirty="0">
              <a:solidFill>
                <a:schemeClr val="tx1"/>
              </a:solidFill>
            </a:endParaRPr>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073" name="Picture 127" desc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534" y="2160589"/>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485001"/>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spAutoFit/>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222222"/>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1036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DROPOUT AND RISK ANALYTICS</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a:xfrm>
            <a:off x="677334" y="2308486"/>
            <a:ext cx="9274002" cy="6041362"/>
          </a:xfrm>
        </p:spPr>
        <p:txBody>
          <a:bodyPr/>
          <a:lstStyle/>
          <a:p>
            <a:r>
              <a:rPr lang="en-US" dirty="0" smtClean="0"/>
              <a:t>PURPOSE :</a:t>
            </a:r>
          </a:p>
          <a:p>
            <a:pPr marL="0" indent="0">
              <a:buNone/>
            </a:pPr>
            <a:r>
              <a:rPr lang="en-IN" dirty="0"/>
              <a:t>Early warning system for at-risk students.</a:t>
            </a:r>
          </a:p>
          <a:p>
            <a:pPr marL="0" indent="0">
              <a:buNone/>
            </a:pPr>
            <a:endParaRPr lang="en-US" dirty="0" smtClean="0"/>
          </a:p>
          <a:p>
            <a:r>
              <a:rPr lang="en-IN" dirty="0"/>
              <a:t>The dropout analytics dashboard focuses on identifying students at risk of discontinuing their studies. </a:t>
            </a:r>
            <a:r>
              <a:rPr lang="en-IN" dirty="0" err="1"/>
              <a:t>Behavioral</a:t>
            </a:r>
            <a:r>
              <a:rPr lang="en-IN" dirty="0"/>
              <a:t> indicators such as declining LMS activity and missed assessments are </a:t>
            </a:r>
            <a:r>
              <a:rPr lang="en-IN" dirty="0" err="1"/>
              <a:t>analyzed</a:t>
            </a:r>
            <a:r>
              <a:rPr lang="en-IN" dirty="0"/>
              <a:t>. Predictive models assist academic administrators in early intervention.</a:t>
            </a:r>
          </a:p>
          <a:p>
            <a:pPr marL="0" indent="0">
              <a:buNone/>
            </a:pPr>
            <a:endParaRPr lang="en-IN" dirty="0"/>
          </a:p>
        </p:txBody>
      </p:sp>
      <p:sp>
        <p:nvSpPr>
          <p:cNvPr id="4" name="Rectangle 2"/>
          <p:cNvSpPr>
            <a:spLocks noChangeArrowheads="1"/>
          </p:cNvSpPr>
          <p:nvPr/>
        </p:nvSpPr>
        <p:spPr bwMode="auto">
          <a:xfrm>
            <a:off x="677334" y="230848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4097" name="Picture 118" desc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2364087"/>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677334" y="2516487"/>
            <a:ext cx="26321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spAutoFit/>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222222"/>
                </a:solidFill>
                <a:effectLst/>
                <a:latin typeface="Calibri" panose="020F0502020204030204" pitchFamily="34" charset="0"/>
                <a:ea typeface="Times New Roman" panose="02020603050405020304" pitchFamily="18" charset="0"/>
                <a:cs typeface="Arial" panose="020B0604020202020204" pitchFamily="34" charset="0"/>
              </a:rPr>
              <a:t> </a:t>
            </a:r>
            <a:r>
              <a:rPr kumimoji="0" lang="en-US" sz="1200" b="0" i="0" u="none" strike="noStrike" cap="none" normalizeH="0" baseline="0" dirty="0" smtClean="0">
                <a:ln>
                  <a:noFill/>
                </a:ln>
                <a:solidFill>
                  <a:srgbClr val="222222"/>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3785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E-LEARNING PLATFORM USAGE</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endParaRPr lang="en-US" dirty="0" smtClean="0"/>
          </a:p>
          <a:p>
            <a:pPr marL="0" indent="0">
              <a:buNone/>
            </a:pPr>
            <a:endParaRPr lang="en-US" dirty="0"/>
          </a:p>
          <a:p>
            <a:endParaRPr lang="en-US" dirty="0" smtClean="0"/>
          </a:p>
          <a:p>
            <a:r>
              <a:rPr lang="en-IN" dirty="0"/>
              <a:t>This dashboard evaluates students’ engagement with the online learning platform. Usage trends, content popularity, and engagement-performance correlations help improve instructional design and digital resource allocation.</a:t>
            </a:r>
          </a:p>
          <a:p>
            <a:endParaRPr lang="en-IN" dirty="0"/>
          </a:p>
        </p:txBody>
      </p:sp>
      <p:sp>
        <p:nvSpPr>
          <p:cNvPr id="8" name="Content Placeholder 2"/>
          <p:cNvSpPr txBox="1">
            <a:spLocks/>
          </p:cNvSpPr>
          <p:nvPr/>
        </p:nvSpPr>
        <p:spPr>
          <a:xfrm>
            <a:off x="677334" y="2160589"/>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lvl="0" indent="0" defTabSz="914400" eaLnBrk="0" fontAlgn="b" hangingPunct="0">
              <a:spcBef>
                <a:spcPct val="0"/>
              </a:spcBef>
              <a:spcAft>
                <a:spcPct val="0"/>
              </a:spcAft>
              <a:buClrTx/>
              <a:buSzTx/>
              <a:buNone/>
            </a:pPr>
            <a:r>
              <a:rPr lang="en-US" dirty="0" smtClean="0">
                <a:solidFill>
                  <a:srgbClr val="222222"/>
                </a:solidFill>
                <a:latin typeface="Arial" panose="020B0604020202020204" pitchFamily="34" charset="0"/>
                <a:ea typeface="Times New Roman" panose="02020603050405020304" pitchFamily="18" charset="0"/>
                <a:cs typeface="Arial" panose="020B0604020202020204" pitchFamily="34" charset="0"/>
              </a:rPr>
              <a:t>PURPOSE:</a:t>
            </a:r>
          </a:p>
          <a:p>
            <a:pPr marL="0" lvl="0" indent="0" defTabSz="914400" eaLnBrk="0" fontAlgn="b" hangingPunct="0">
              <a:spcBef>
                <a:spcPct val="0"/>
              </a:spcBef>
              <a:spcAft>
                <a:spcPct val="0"/>
              </a:spcAft>
              <a:buClrTx/>
              <a:buSzTx/>
              <a:buNone/>
            </a:pPr>
            <a:endParaRPr lang="en-US" sz="1600" dirty="0">
              <a:solidFill>
                <a:schemeClr val="tx1"/>
              </a:solidFill>
            </a:endParaRPr>
          </a:p>
          <a:p>
            <a:pPr marL="0" lvl="0" indent="0" defTabSz="914400" eaLnBrk="0" fontAlgn="b" hangingPunct="0">
              <a:spcBef>
                <a:spcPct val="0"/>
              </a:spcBef>
              <a:spcAft>
                <a:spcPct val="0"/>
              </a:spcAft>
              <a:buClrTx/>
              <a:buSzTx/>
              <a:buNone/>
            </a:pPr>
            <a:r>
              <a:rPr lang="en-US" dirty="0">
                <a:solidFill>
                  <a:srgbClr val="222222"/>
                </a:solidFill>
                <a:latin typeface="Arial" panose="020B0604020202020204" pitchFamily="34" charset="0"/>
                <a:ea typeface="Times New Roman" panose="02020603050405020304" pitchFamily="18" charset="0"/>
                <a:cs typeface="Arial" panose="020B0604020202020204" pitchFamily="34" charset="0"/>
              </a:rPr>
              <a:t>Measure digital engagement &amp; content effectiveness.</a:t>
            </a:r>
            <a:endParaRPr lang="en-US" sz="1600" dirty="0">
              <a:solidFill>
                <a:schemeClr val="tx1"/>
              </a:solidFill>
            </a:endParaRPr>
          </a:p>
          <a:p>
            <a:endParaRPr lang="en-US" dirty="0" smtClean="0"/>
          </a:p>
          <a:p>
            <a:pPr marL="0" indent="0">
              <a:buFont typeface="Wingdings 3" charset="2"/>
              <a:buNone/>
            </a:pPr>
            <a:endParaRPr lang="en-US" dirty="0" smtClean="0"/>
          </a:p>
          <a:p>
            <a:endParaRPr lang="en-US" dirty="0" smtClean="0"/>
          </a:p>
          <a:p>
            <a:pPr marL="0" indent="0">
              <a:buNone/>
            </a:pPr>
            <a:endParaRPr lang="en-IN" dirty="0"/>
          </a:p>
        </p:txBody>
      </p:sp>
      <p:sp>
        <p:nvSpPr>
          <p:cNvPr id="9" name="Rectangle 2"/>
          <p:cNvSpPr>
            <a:spLocks noChangeArrowheads="1"/>
          </p:cNvSpPr>
          <p:nvPr/>
        </p:nvSpPr>
        <p:spPr bwMode="auto">
          <a:xfrm>
            <a:off x="-1528996" y="-1640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 name="Picture 108" desc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534" y="2170582"/>
            <a:ext cx="304800"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FACULTY WORKLOAD AND PERFORMANCE</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marL="0" lvl="0" indent="0">
              <a:buNone/>
            </a:pPr>
            <a:r>
              <a:rPr lang="en-US" dirty="0">
                <a:solidFill>
                  <a:srgbClr val="222222"/>
                </a:solidFill>
                <a:latin typeface="Calibri" panose="020F0502020204030204" pitchFamily="34" charset="0"/>
                <a:ea typeface="Times New Roman" panose="02020603050405020304" pitchFamily="18" charset="0"/>
                <a:cs typeface="Arial" panose="020B0604020202020204" pitchFamily="34" charset="0"/>
              </a:rPr>
              <a:t> </a:t>
            </a:r>
            <a:r>
              <a:rPr lang="en-US" dirty="0">
                <a:solidFill>
                  <a:srgbClr val="222222"/>
                </a:solidFill>
                <a:latin typeface="Arial" panose="020B0604020202020204" pitchFamily="34" charset="0"/>
                <a:ea typeface="Times New Roman" panose="02020603050405020304" pitchFamily="18" charset="0"/>
                <a:cs typeface="Arial" panose="020B0604020202020204" pitchFamily="34" charset="0"/>
              </a:rPr>
              <a:t>Purpose</a:t>
            </a:r>
            <a:endParaRPr lang="en-US" sz="2800" dirty="0">
              <a:solidFill>
                <a:schemeClr val="tx1"/>
              </a:solidFill>
              <a:latin typeface="Arial" panose="020B0604020202020204" pitchFamily="34" charset="0"/>
            </a:endParaRPr>
          </a:p>
          <a:p>
            <a:pPr marL="0" indent="0">
              <a:buNone/>
            </a:pPr>
            <a:r>
              <a:rPr lang="en-IN" dirty="0"/>
              <a:t>Optimize teaching load and evaluate effectiveness</a:t>
            </a:r>
            <a:r>
              <a:rPr lang="en-IN" dirty="0" smtClean="0"/>
              <a:t>.</a:t>
            </a:r>
          </a:p>
          <a:p>
            <a:pPr marL="0" indent="0">
              <a:buNone/>
            </a:pPr>
            <a:endParaRPr lang="en-US" dirty="0"/>
          </a:p>
          <a:p>
            <a:pPr marL="0" indent="0">
              <a:buNone/>
            </a:pPr>
            <a:r>
              <a:rPr lang="en-IN" dirty="0"/>
              <a:t>Faculty workload and performance dashboards ensure equitable distribution of teaching responsibilities while monitoring instructional effectiveness. Insights support evidence-based faculty planning and professional </a:t>
            </a:r>
            <a:r>
              <a:rPr lang="en-IN" dirty="0" smtClean="0"/>
              <a:t>development.</a:t>
            </a:r>
            <a:endParaRPr lang="en-IN"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145" name="Picture 99" desc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534" y="2160589"/>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39266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spAutoFit/>
          </a:bodyPr>
          <a:lstStyle/>
          <a:p>
            <a:pPr marL="0" marR="0" lvl="0" indent="0" algn="l" defTabSz="914400" rtl="0" eaLnBrk="0" fontAlgn="b"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714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ADMISSION AND ENROLLMENT TRENDS</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a:xfrm>
            <a:off x="857216" y="2008189"/>
            <a:ext cx="8596668" cy="3880773"/>
          </a:xfrm>
        </p:spPr>
        <p:txBody>
          <a:bodyPr/>
          <a:lstStyle/>
          <a:p>
            <a:pPr marL="0" lvl="0" indent="0" defTabSz="914400" eaLnBrk="0" fontAlgn="base" hangingPunct="0">
              <a:spcBef>
                <a:spcPct val="0"/>
              </a:spcBef>
              <a:spcAft>
                <a:spcPct val="0"/>
              </a:spcAft>
              <a:buClrTx/>
              <a:buSzTx/>
              <a:buNone/>
            </a:pPr>
            <a:r>
              <a:rPr lang="en-US" dirty="0" smtClean="0">
                <a:solidFill>
                  <a:srgbClr val="222222"/>
                </a:solidFill>
                <a:latin typeface="Arial" panose="020B0604020202020204" pitchFamily="34" charset="0"/>
                <a:ea typeface="Times New Roman" panose="02020603050405020304" pitchFamily="18" charset="0"/>
                <a:cs typeface="Arial" panose="020B0604020202020204" pitchFamily="34" charset="0"/>
              </a:rPr>
              <a:t>PURPOSE:</a:t>
            </a:r>
          </a:p>
          <a:p>
            <a:pPr marL="0" lvl="0" indent="0" defTabSz="914400" eaLnBrk="0" fontAlgn="base" hangingPunct="0">
              <a:spcBef>
                <a:spcPct val="0"/>
              </a:spcBef>
              <a:spcAft>
                <a:spcPct val="0"/>
              </a:spcAft>
              <a:buClrTx/>
              <a:buSzTx/>
              <a:buNone/>
            </a:pPr>
            <a:endParaRPr lang="en-US" dirty="0">
              <a:solidFill>
                <a:srgbClr val="222222"/>
              </a:solidFill>
              <a:latin typeface="Arial" panose="020B0604020202020204" pitchFamily="34" charset="0"/>
              <a:ea typeface="Times New Roman" panose="02020603050405020304" pitchFamily="18" charset="0"/>
              <a:cs typeface="Arial" panose="020B0604020202020204" pitchFamily="34" charset="0"/>
            </a:endParaRPr>
          </a:p>
          <a:p>
            <a:pPr marL="0" lvl="0" indent="0" defTabSz="914400" eaLnBrk="0" fontAlgn="base" hangingPunct="0">
              <a:spcBef>
                <a:spcPct val="0"/>
              </a:spcBef>
              <a:spcAft>
                <a:spcPct val="0"/>
              </a:spcAft>
              <a:buClrTx/>
              <a:buSzTx/>
              <a:buNone/>
            </a:pPr>
            <a:r>
              <a:rPr lang="en-US" dirty="0" smtClean="0">
                <a:solidFill>
                  <a:srgbClr val="222222"/>
                </a:solidFill>
                <a:latin typeface="Arial" panose="020B0604020202020204" pitchFamily="34" charset="0"/>
                <a:ea typeface="Times New Roman" panose="02020603050405020304" pitchFamily="18" charset="0"/>
                <a:cs typeface="Arial" panose="020B0604020202020204" pitchFamily="34" charset="0"/>
              </a:rPr>
              <a:t>Understand </a:t>
            </a:r>
            <a:r>
              <a:rPr lang="en-US" dirty="0">
                <a:solidFill>
                  <a:srgbClr val="222222"/>
                </a:solidFill>
                <a:latin typeface="Arial" panose="020B0604020202020204" pitchFamily="34" charset="0"/>
                <a:ea typeface="Times New Roman" panose="02020603050405020304" pitchFamily="18" charset="0"/>
                <a:cs typeface="Arial" panose="020B0604020202020204" pitchFamily="34" charset="0"/>
              </a:rPr>
              <a:t>admission funnel and enrollment growth.</a:t>
            </a:r>
            <a:endParaRPr lang="en-US" sz="1600" dirty="0">
              <a:solidFill>
                <a:schemeClr val="tx1"/>
              </a:solidFill>
            </a:endParaRPr>
          </a:p>
          <a:p>
            <a:pPr marL="0" lvl="0" indent="0" defTabSz="914400" eaLnBrk="0" fontAlgn="base" hangingPunct="0">
              <a:spcBef>
                <a:spcPct val="0"/>
              </a:spcBef>
              <a:spcAft>
                <a:spcPct val="0"/>
              </a:spcAft>
              <a:buClrTx/>
              <a:buSzTx/>
              <a:buNone/>
            </a:pPr>
            <a:endParaRPr lang="en-US" sz="2800" dirty="0">
              <a:solidFill>
                <a:schemeClr val="tx1"/>
              </a:solidFill>
              <a:latin typeface="Arial" panose="020B0604020202020204" pitchFamily="34" charset="0"/>
            </a:endParaRPr>
          </a:p>
          <a:p>
            <a:r>
              <a:rPr lang="en-US" dirty="0" smtClean="0"/>
              <a:t>This dashboard provides insights into student application behavior ,admission outcomes and enrollment performance.</a:t>
            </a:r>
            <a:endParaRPr lang="en-IN" dirty="0"/>
          </a:p>
        </p:txBody>
      </p:sp>
      <p:sp>
        <p:nvSpPr>
          <p:cNvPr id="4" name="Rectangle 2"/>
          <p:cNvSpPr>
            <a:spLocks noChangeArrowheads="1"/>
          </p:cNvSpPr>
          <p:nvPr/>
        </p:nvSpPr>
        <p:spPr bwMode="auto">
          <a:xfrm>
            <a:off x="179882"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169" name="Picture 38" desc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574" y="2008189"/>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179882" y="471101"/>
            <a:ext cx="219932"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222222"/>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6830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7078" y="612097"/>
            <a:ext cx="8596668" cy="1320800"/>
          </a:xfrm>
        </p:spPr>
        <p:txBody>
          <a:bodyPr/>
          <a:lstStyle/>
          <a:p>
            <a:pPr algn="ctr"/>
            <a:r>
              <a:rPr lang="en-US" dirty="0" smtClean="0">
                <a:solidFill>
                  <a:schemeClr val="tx1"/>
                </a:solidFill>
                <a:latin typeface="Algerian" panose="04020705040A02060702" pitchFamily="82" charset="0"/>
              </a:rPr>
              <a:t>ALUMNI PLACEMENT AND CONTRIBUTION</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a:xfrm>
            <a:off x="677334" y="2170582"/>
            <a:ext cx="8596668" cy="3880773"/>
          </a:xfrm>
        </p:spPr>
        <p:txBody>
          <a:bodyPr/>
          <a:lstStyle/>
          <a:p>
            <a:pPr marL="0" lvl="0" indent="0">
              <a:buNone/>
            </a:pPr>
            <a:r>
              <a:rPr lang="en-US" dirty="0">
                <a:solidFill>
                  <a:srgbClr val="222222"/>
                </a:solidFill>
                <a:latin typeface="Calibri" panose="020F0502020204030204" pitchFamily="34" charset="0"/>
                <a:ea typeface="Times New Roman" panose="02020603050405020304" pitchFamily="18" charset="0"/>
                <a:cs typeface="Arial" panose="020B0604020202020204" pitchFamily="34" charset="0"/>
              </a:rPr>
              <a:t> </a:t>
            </a:r>
            <a:r>
              <a:rPr lang="en-US" dirty="0" smtClean="0">
                <a:solidFill>
                  <a:srgbClr val="222222"/>
                </a:solidFill>
                <a:latin typeface="Arial" panose="020B0604020202020204" pitchFamily="34" charset="0"/>
                <a:ea typeface="Times New Roman" panose="02020603050405020304" pitchFamily="18" charset="0"/>
                <a:cs typeface="Arial" panose="020B0604020202020204" pitchFamily="34" charset="0"/>
              </a:rPr>
              <a:t>Objective</a:t>
            </a:r>
            <a:endParaRPr lang="en-US" sz="2800" dirty="0" smtClean="0">
              <a:solidFill>
                <a:schemeClr val="tx1"/>
              </a:solidFill>
              <a:latin typeface="Arial" panose="020B0604020202020204" pitchFamily="34" charset="0"/>
            </a:endParaRPr>
          </a:p>
          <a:p>
            <a:pPr marL="0" lvl="0" indent="0">
              <a:buNone/>
            </a:pPr>
            <a:endParaRPr lang="en-US" dirty="0"/>
          </a:p>
          <a:p>
            <a:r>
              <a:rPr lang="en-IN" dirty="0"/>
              <a:t>Alumni placement and contribution analytics assess institutional outcomes beyond graduation. Placement success, salary trends, and alumni engagement reflect program quality and long-term institutional impact.</a:t>
            </a:r>
            <a:endParaRPr lang="en-IN" dirty="0"/>
          </a:p>
        </p:txBody>
      </p:sp>
      <p:sp>
        <p:nvSpPr>
          <p:cNvPr id="4" name="Rectangle 2"/>
          <p:cNvSpPr>
            <a:spLocks noChangeArrowheads="1"/>
          </p:cNvSpPr>
          <p:nvPr/>
        </p:nvSpPr>
        <p:spPr bwMode="auto">
          <a:xfrm>
            <a:off x="0" y="999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193" name="Picture 44" desc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534" y="2188283"/>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587327"/>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2989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KEY INSIGHTS</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lvl="1">
              <a:spcBef>
                <a:spcPct val="20000"/>
              </a:spcBef>
              <a:buFont typeface="Arial" charset="0"/>
              <a:buChar char="–"/>
            </a:pPr>
            <a:r>
              <a:rPr lang="en-US" altLang="zh-CN" sz="2800" dirty="0">
                <a:solidFill>
                  <a:schemeClr val="tx1"/>
                </a:solidFill>
                <a:latin typeface="Calibri" charset="0"/>
                <a:ea typeface="宋体" charset="0"/>
                <a:cs typeface="Lucida Sans"/>
              </a:rPr>
              <a:t>Higher engagement leads to better outcomes</a:t>
            </a:r>
          </a:p>
          <a:p>
            <a:pPr lvl="1">
              <a:spcBef>
                <a:spcPct val="20000"/>
              </a:spcBef>
              <a:buFont typeface="Arial" charset="0"/>
              <a:buChar char="–"/>
            </a:pPr>
            <a:r>
              <a:rPr lang="en-US" altLang="zh-CN" sz="2800" dirty="0">
                <a:solidFill>
                  <a:schemeClr val="tx1"/>
                </a:solidFill>
                <a:latin typeface="Calibri" charset="0"/>
                <a:ea typeface="宋体" charset="0"/>
                <a:cs typeface="Lucida Sans"/>
              </a:rPr>
              <a:t>Certain departments show stronger placement</a:t>
            </a:r>
          </a:p>
          <a:p>
            <a:pPr lvl="1">
              <a:spcBef>
                <a:spcPct val="20000"/>
              </a:spcBef>
              <a:buFont typeface="Arial" charset="0"/>
              <a:buChar char="–"/>
            </a:pPr>
            <a:r>
              <a:rPr lang="en-US" altLang="zh-CN" sz="2800" dirty="0">
                <a:solidFill>
                  <a:schemeClr val="tx1"/>
                </a:solidFill>
                <a:latin typeface="Calibri" charset="0"/>
                <a:ea typeface="宋体" charset="0"/>
                <a:cs typeface="Lucida Sans"/>
              </a:rPr>
              <a:t>Successful alumni contribute more</a:t>
            </a:r>
            <a:endParaRPr lang="zh-CN" altLang="en-US" sz="2800" dirty="0">
              <a:solidFill>
                <a:schemeClr val="tx1"/>
              </a:solidFill>
              <a:latin typeface="Calibri" charset="0"/>
              <a:ea typeface="宋体" charset="0"/>
              <a:cs typeface="Lucida Sans"/>
            </a:endParaRPr>
          </a:p>
        </p:txBody>
      </p:sp>
    </p:spTree>
    <p:extLst>
      <p:ext uri="{BB962C8B-B14F-4D97-AF65-F5344CB8AC3E}">
        <p14:creationId xmlns:p14="http://schemas.microsoft.com/office/powerpoint/2010/main" val="3468149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tx1"/>
                </a:solidFill>
                <a:latin typeface="Algerian" panose="04020705040A02060702" pitchFamily="82" charset="0"/>
              </a:rPr>
              <a:t>CONCLUSION AND FUTURE SCOPE</a:t>
            </a:r>
            <a:endParaRPr lang="en-IN" dirty="0">
              <a:solidFill>
                <a:schemeClr val="tx1"/>
              </a:solidFill>
              <a:latin typeface="Algerian" panose="04020705040A02060702" pitchFamily="82" charset="0"/>
            </a:endParaRPr>
          </a:p>
        </p:txBody>
      </p:sp>
      <p:sp>
        <p:nvSpPr>
          <p:cNvPr id="3" name="Content Placeholder 2"/>
          <p:cNvSpPr>
            <a:spLocks noGrp="1"/>
          </p:cNvSpPr>
          <p:nvPr>
            <p:ph idx="1"/>
          </p:nvPr>
        </p:nvSpPr>
        <p:spPr/>
        <p:txBody>
          <a:bodyPr/>
          <a:lstStyle/>
          <a:p>
            <a:pPr lvl="1">
              <a:spcBef>
                <a:spcPct val="20000"/>
              </a:spcBef>
              <a:buFont typeface="Arial" charset="0"/>
              <a:buChar char="–"/>
            </a:pPr>
            <a:r>
              <a:rPr lang="en-US" altLang="zh-CN" sz="2800" dirty="0">
                <a:solidFill>
                  <a:schemeClr val="tx1"/>
                </a:solidFill>
                <a:latin typeface="Calibri" charset="0"/>
                <a:ea typeface="宋体" charset="0"/>
                <a:cs typeface="Lucida Sans"/>
              </a:rPr>
              <a:t>Project enables data-driven academic planning</a:t>
            </a:r>
          </a:p>
          <a:p>
            <a:pPr lvl="1">
              <a:spcBef>
                <a:spcPct val="20000"/>
              </a:spcBef>
              <a:buFont typeface="Arial" charset="0"/>
              <a:buChar char="–"/>
            </a:pPr>
            <a:r>
              <a:rPr lang="en-US" altLang="zh-CN" sz="2800" dirty="0">
                <a:solidFill>
                  <a:schemeClr val="tx1"/>
                </a:solidFill>
                <a:latin typeface="Calibri" charset="0"/>
                <a:ea typeface="宋体" charset="0"/>
                <a:cs typeface="Lucida Sans"/>
              </a:rPr>
              <a:t>Future scope includes predictive analytics and real-time dashboards</a:t>
            </a:r>
            <a:endParaRPr lang="zh-CN" altLang="en-US" sz="2800" dirty="0">
              <a:solidFill>
                <a:schemeClr val="tx1"/>
              </a:solidFill>
              <a:latin typeface="Calibri" charset="0"/>
              <a:ea typeface="宋体" charset="0"/>
              <a:cs typeface="Lucida Sans"/>
            </a:endParaRPr>
          </a:p>
        </p:txBody>
      </p:sp>
    </p:spTree>
    <p:extLst>
      <p:ext uri="{BB962C8B-B14F-4D97-AF65-F5344CB8AC3E}">
        <p14:creationId xmlns:p14="http://schemas.microsoft.com/office/powerpoint/2010/main" val="2488994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dirty="0" smtClean="0">
                <a:solidFill>
                  <a:schemeClr val="tx1"/>
                </a:solidFill>
                <a:latin typeface="Algerian" panose="04020705040A02060702" pitchFamily="82" charset="0"/>
              </a:rPr>
              <a:t>THANK YOU</a:t>
            </a: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solidFill>
                  <a:schemeClr val="tx1"/>
                </a:solidFill>
                <a:latin typeface="Algerian" panose="04020705040A02060702" pitchFamily="82" charset="0"/>
              </a:rPr>
              <a:t>ANY QUESTIONS?</a:t>
            </a:r>
            <a:endParaRPr lang="en-IN" dirty="0">
              <a:solidFill>
                <a:schemeClr val="tx1"/>
              </a:solidFill>
              <a:latin typeface="Algerian" panose="04020705040A02060702" pitchFamily="82" charset="0"/>
            </a:endParaRPr>
          </a:p>
        </p:txBody>
      </p:sp>
    </p:spTree>
    <p:extLst>
      <p:ext uri="{BB962C8B-B14F-4D97-AF65-F5344CB8AC3E}">
        <p14:creationId xmlns:p14="http://schemas.microsoft.com/office/powerpoint/2010/main" val="8184255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85</TotalTime>
  <Words>483</Words>
  <Application>Microsoft Office PowerPoint</Application>
  <PresentationFormat>Widescreen</PresentationFormat>
  <Paragraphs>95</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SimSun</vt:lpstr>
      <vt:lpstr>Algerian</vt:lpstr>
      <vt:lpstr>Arial</vt:lpstr>
      <vt:lpstr>Calibri</vt:lpstr>
      <vt:lpstr>Lucida Sans</vt:lpstr>
      <vt:lpstr>Times New Roman</vt:lpstr>
      <vt:lpstr>Trebuchet MS</vt:lpstr>
      <vt:lpstr>Wingdings 3</vt:lpstr>
      <vt:lpstr>Facet</vt:lpstr>
      <vt:lpstr>Education Analytics using OULAD Dataset and Alumni Analytics</vt:lpstr>
      <vt:lpstr>CERTIFICATE</vt:lpstr>
      <vt:lpstr>DECLARATION</vt:lpstr>
      <vt:lpstr>INTRODUCTION</vt:lpstr>
      <vt:lpstr>PROBLEM STATEMENT</vt:lpstr>
      <vt:lpstr>OBJECTIVES</vt:lpstr>
      <vt:lpstr>DATASET DESCRIPTION</vt:lpstr>
      <vt:lpstr>TOOLS USED</vt:lpstr>
      <vt:lpstr>DATA MODEL</vt:lpstr>
      <vt:lpstr>STUDENT PERFORMANCE OVERVIEW</vt:lpstr>
      <vt:lpstr>DROPOUT AND RISK ANALYTICS</vt:lpstr>
      <vt:lpstr>E-LEARNING PLATFORM USAGE</vt:lpstr>
      <vt:lpstr>FACULTY WORKLOAD AND PERFORMANCE</vt:lpstr>
      <vt:lpstr>ADMISSION AND ENROLLMENT TRENDS</vt:lpstr>
      <vt:lpstr>ALUMNI PLACEMENT AND CONTRIBUTION</vt:lpstr>
      <vt:lpstr>KEY INSIGHTS</vt:lpstr>
      <vt:lpstr>CONCLUSION AND FUTURE SCOPE</vt:lpstr>
      <vt:lpstr>THANK YOU    ANY QUESTIONS?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 Analytics using OULAD Dataset and Alumni Analytics</dc:title>
  <dc:creator>lenovo</dc:creator>
  <cp:lastModifiedBy>lenovo</cp:lastModifiedBy>
  <cp:revision>10</cp:revision>
  <dcterms:created xsi:type="dcterms:W3CDTF">2026-01-19T06:58:41Z</dcterms:created>
  <dcterms:modified xsi:type="dcterms:W3CDTF">2026-01-19T08:24:14Z</dcterms:modified>
</cp:coreProperties>
</file>